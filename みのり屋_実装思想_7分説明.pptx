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0:00–0:35</a:t>
            </a:r>
          </a:p>
          <a:p>
            <a:r>
              <a:t>今日は機能一覧ではなく、何を守るためにどう実装したかを7分で説明します。結論は、速く機能を足す前に、壊してはいけない境界を決めた、です。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0:35–1:25</a:t>
            </a:r>
          </a:p>
          <a:p>
            <a:r>
              <a:t>最初に決めたのは3つです。既存POSを全面置換しない。重要操作はブラウザ表示だけで守らない。そして、外部IFなど未確定事項を暗黙に完成扱いしない。この3つを、継続性・正確性・変更容易性という設計軸に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1:25–2:15</a:t>
            </a:r>
          </a:p>
          <a:p>
            <a:r>
              <a:t>店舗の共用PCでは、閲覧まで毎回個人ログインを要求すると現場負荷が上がります。そこで端末接続は自店舗の閲覧に限定。一方、保存・金額・承認は個人ログインを必須にし、誰が操作したかを残します。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2:15–3:15</a:t>
            </a:r>
          </a:p>
          <a:p>
            <a:r>
              <a:t>高リスクな売上修正は、フォームを作って終わりではありません。店舗申請、エリア一次承認、本部最終承認を状態遷移として実装し、最終承認までは売上を変えません。さらにDB側で役割・担当範囲・監査を強制し、画面の迂回でも壊れないよう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3:15–4:20</a:t>
            </a:r>
          </a:p>
          <a:p>
            <a:r>
              <a:t>将来DBや外部接続が変わっても、業務ルールまで書き換えない構成にしました。domainはNext.jsやSupabaseを知らず、containerがMock、MySQL、Supabaseを選びます。外部送信はOutbox、冪等キー、再試行で失敗を業務処理から切り離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4:20–5:10</a:t>
            </a:r>
          </a:p>
          <a:p>
            <a:r>
              <a:t>UIでは、情報量を増やすより、入口と状態を揃えました。共通サイドバー、業務の言葉で付けた画面名、サンプル・未接続・権限不足の明示です。キーボード操作や動きの低減も、店舗の共用PCを前提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5:10–6:35</a:t>
            </a:r>
          </a:p>
          <a:p>
            <a:r>
              <a:t>品質はテスト件数だけでなく、何を契約として守るかです。構造境界、承認や権限などの業務、要件IDとマイグレーションの追跡を自動検証しています。一方、本番IF、実アカウントE2E、負荷・復旧は次のゲートです。未確定を完成と呼ばないことも品質だと考えています。</a:t>
            </a:r>
          </a:p>
          <a:p>
            <a:r>
              <a:t>6:35–7:00</a:t>
            </a:r>
          </a:p>
          <a:p>
            <a:r>
              <a:t>まとめると、速く作るために先に壊れにくくした。これが今回の実装思想です。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2697480" cy="347472"/>
          </a:xfrm>
          <a:prstGeom prst="roundRect">
            <a:avLst/>
          </a:prstGeom>
          <a:solidFill>
            <a:srgbClr val="164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76072"/>
            <a:ext cx="26974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FE8D9"/>
                </a:solidFill>
                <a:latin typeface="BIZ UDPGothic"/>
              </a:rPr>
              <a:t>7 MINUTES / IMPLEMENTATION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6629400" cy="1417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BIZ UDPGothic"/>
              </a:rPr>
              <a:t>機能ではなく、
判断の積み重ねを話す。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3054096"/>
            <a:ext cx="6035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C7D8E5"/>
                </a:solidFill>
                <a:latin typeface="BIZ UDPGothic"/>
              </a:rPr>
              <a:t>みのり屋 販売管理システム｜実装思想と設計の要点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053328"/>
            <a:ext cx="20116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FB6C7"/>
                </a:solidFill>
                <a:latin typeface="BIZ UDPGothic"/>
              </a:rPr>
              <a:t>2026.10.22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950976"/>
            <a:ext cx="3794760" cy="4526280"/>
          </a:xfrm>
          <a:prstGeom prst="roundRect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1097280"/>
            <a:ext cx="34290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BIZ UDPGothic"/>
              </a:rPr>
              <a:t>UI /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353312"/>
            <a:ext cx="3154680" cy="3703320"/>
          </a:xfrm>
          <a:prstGeom prst="roundRect">
            <a:avLst/>
          </a:prstGeom>
          <a:solidFill>
            <a:srgbClr val="18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499616"/>
            <a:ext cx="27889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BIZ UDPGothic"/>
              </a:rPr>
              <a:t>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55648"/>
            <a:ext cx="2514600" cy="2880360"/>
          </a:xfrm>
          <a:prstGeom prst="roundRect">
            <a:avLst/>
          </a:prstGeom>
          <a:solidFill>
            <a:srgbClr val="1B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01952"/>
            <a:ext cx="21488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BIZ UDPGothic"/>
              </a:rPr>
              <a:t>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157984"/>
            <a:ext cx="1874519" cy="2057400"/>
          </a:xfrm>
          <a:prstGeom prst="roundRect">
            <a:avLst/>
          </a:prstGeom>
          <a:solidFill>
            <a:srgbClr val="18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304288"/>
            <a:ext cx="1508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BIZ UDPGothic"/>
              </a:rPr>
              <a:t>DB / IF</a:t>
            </a:r>
          </a:p>
        </p:txBody>
      </p:sp>
      <p:sp>
        <p:nvSpPr>
          <p:cNvPr id="15" name="Oval 14"/>
          <p:cNvSpPr/>
          <p:nvPr/>
        </p:nvSpPr>
        <p:spPr>
          <a:xfrm>
            <a:off x="9061704" y="2816352"/>
            <a:ext cx="658368" cy="658368"/>
          </a:xfrm>
          <a:prstGeom prst="ellipse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2E4E"/>
                </a:solidFill>
                <a:latin typeface="BIZ UDPGothic"/>
              </a:rPr>
              <a:t>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3785615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BIZ UDPGothic"/>
              </a:rPr>
              <a:t>業務の正確さ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E9B7F"/>
                </a:solidFill>
                <a:latin typeface="BIZ UDP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74904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E9B7F"/>
                </a:solidFill>
                <a:latin typeface="BIZ UDPGothic"/>
              </a:rPr>
              <a:t>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88136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A2E4E"/>
                </a:solidFill>
                <a:latin typeface="BIZ UDPGothic"/>
              </a:rPr>
              <a:t>要件を足す前に、境界を決めた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112店舗の業務を止めずに、正確さと将来変更を両立する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350215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304288"/>
            <a:ext cx="438912" cy="438912"/>
          </a:xfrm>
          <a:prstGeom prst="ellipse">
            <a:avLst/>
          </a:prstGeom>
          <a:solidFill>
            <a:srgbClr val="18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880360"/>
            <a:ext cx="2990088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A2E4E"/>
                </a:solidFill>
                <a:latin typeface="BIZ UDPGothic"/>
              </a:rPr>
              <a:t>置き換えない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355848"/>
            <a:ext cx="2990088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既存POS・基幹は残す。
Webは統合・承認・可視化に集中。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50215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2304288"/>
            <a:ext cx="438912" cy="438912"/>
          </a:xfrm>
          <a:prstGeom prst="ellipse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880360"/>
            <a:ext cx="2990088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A2E4E"/>
                </a:solidFill>
                <a:latin typeface="BIZ UDPGothic"/>
              </a:rPr>
              <a:t>画面を信頼しない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3355848"/>
            <a:ext cx="2990088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金額・権限・承認は
Server Action と DB で再検査。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350215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48471" y="2304288"/>
            <a:ext cx="438912" cy="438912"/>
          </a:xfrm>
          <a:prstGeom prst="ellipse">
            <a:avLst/>
          </a:prstGeom>
          <a:solidFill>
            <a:srgbClr val="E18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880360"/>
            <a:ext cx="2990088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0A2E4E"/>
                </a:solidFill>
                <a:latin typeface="BIZ UDPGothic"/>
              </a:rPr>
              <a:t>未確定を作り込まない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355848"/>
            <a:ext cx="2990088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Mock → DB → 外部IF。
決まった境界から段階接続。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818888"/>
            <a:ext cx="9628632" cy="987552"/>
          </a:xfrm>
          <a:prstGeom prst="roundRect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5084064"/>
            <a:ext cx="10515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9FDAC8"/>
                </a:solidFill>
                <a:latin typeface="BIZ UDPGothic"/>
              </a:rPr>
              <a:t>設計の軸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974336"/>
            <a:ext cx="72694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BIZ UDPGothic"/>
              </a:rPr>
              <a:t>継続性 × 正確性 × 変更容易性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19672"/>
            <a:ext cx="11109960" cy="9144"/>
          </a:xfrm>
          <a:prstGeom prst="rect">
            <a:avLst/>
          </a:prstGeom>
          <a:solidFill>
            <a:srgbClr val="D7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10515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根拠: 統合要件書v3 / ADR-0001 / docs/architecture.md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565392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みのり屋 販売管理システム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E9B7F"/>
                </a:solidFill>
                <a:latin typeface="BIZ UDP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74904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E9B7F"/>
                </a:solidFill>
                <a:latin typeface="BIZ UDPGothic"/>
              </a:rPr>
              <a:t>EXPERIENCE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88136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A2E4E"/>
                </a:solidFill>
                <a:latin typeface="BIZ UDPGothic"/>
              </a:rPr>
              <a:t>利用者ごとに、入口と責任を分ける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共用PCの速さと、重要操作の個人識別を両立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5349240" cy="4069080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2103120"/>
            <a:ext cx="148132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12263"/>
            <a:ext cx="148132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A2E4E"/>
                </a:solidFill>
                <a:latin typeface="BIZ UDPGothic"/>
              </a:rPr>
              <a:t>STORE 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201168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0A2E4E"/>
                </a:solidFill>
                <a:latin typeface="BIZ UDPGothic"/>
              </a:rPr>
              <a:t>店舗端末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44952"/>
            <a:ext cx="187451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88268"/>
                </a:solidFill>
                <a:latin typeface="BIZ UDPGothic"/>
              </a:rPr>
              <a:t>すぐ見る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39312"/>
            <a:ext cx="20574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D7083"/>
                </a:solidFill>
                <a:latin typeface="BIZ UDPGothic"/>
              </a:rPr>
              <a:t>自店舗の状況・通知
端末スコープで閲覧</a:t>
            </a:r>
          </a:p>
        </p:txBody>
      </p:sp>
      <p:pic>
        <p:nvPicPr>
          <p:cNvPr id="12" name="Picture 11" descr="店舗用共通メニューの実画面"/>
          <p:cNvPicPr>
            <a:picLocks noChangeAspect="1"/>
          </p:cNvPicPr>
          <p:nvPr/>
        </p:nvPicPr>
        <p:blipFill>
          <a:blip r:embed="rId2"/>
          <a:srcRect l="22300" r="22300"/>
          <a:stretch>
            <a:fillRect/>
          </a:stretch>
        </p:blipFill>
        <p:spPr>
          <a:xfrm>
            <a:off x="2999232" y="2176272"/>
            <a:ext cx="2596896" cy="32552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999232" y="2176272"/>
            <a:ext cx="2596896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6208" y="1847088"/>
            <a:ext cx="5349240" cy="4069080"/>
          </a:xfrm>
          <a:prstGeom prst="roundRect">
            <a:avLst/>
          </a:prstGeom>
          <a:solidFill>
            <a:srgbClr val="E3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2103120"/>
            <a:ext cx="1755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112263"/>
            <a:ext cx="175564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8268"/>
                </a:solidFill>
                <a:latin typeface="BIZ UDPGothic"/>
              </a:rPr>
              <a:t>PERSONAL 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578608"/>
            <a:ext cx="214884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100" b="1">
                <a:solidFill>
                  <a:srgbClr val="0A2E4E"/>
                </a:solidFill>
                <a:latin typeface="BIZ UDPGothic"/>
              </a:rPr>
              <a:t>個人ログイン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44952"/>
            <a:ext cx="1874519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>
                <a:solidFill>
                  <a:srgbClr val="188268"/>
                </a:solidFill>
                <a:latin typeface="BIZ UDPGothic"/>
              </a:rPr>
              <a:t>責任を残す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639312"/>
            <a:ext cx="20574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D7083"/>
                </a:solidFill>
                <a:latin typeface="BIZ UDPGothic"/>
              </a:rPr>
              <a:t>保存・金額・承認
操作者と権限を記録</a:t>
            </a:r>
          </a:p>
        </p:txBody>
      </p:sp>
      <p:pic>
        <p:nvPicPr>
          <p:cNvPr id="20" name="Picture 19" descr="管理機能ログインの実画面"/>
          <p:cNvPicPr>
            <a:picLocks noChangeAspect="1"/>
          </p:cNvPicPr>
          <p:nvPr/>
        </p:nvPicPr>
        <p:blipFill>
          <a:blip r:embed="rId3"/>
          <a:srcRect l="22300" r="22300"/>
          <a:stretch>
            <a:fillRect/>
          </a:stretch>
        </p:blipFill>
        <p:spPr>
          <a:xfrm>
            <a:off x="8641080" y="2176272"/>
            <a:ext cx="2596896" cy="325526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641080" y="2176272"/>
            <a:ext cx="2596896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2544" y="5650992"/>
            <a:ext cx="3493008" cy="457200"/>
          </a:xfrm>
          <a:prstGeom prst="roundRect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5733288"/>
            <a:ext cx="34564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IZ UDPGothic"/>
              </a:rPr>
              <a:t>低摩擦の閲覧 / 追跡可能な更新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19672"/>
            <a:ext cx="11109960" cy="9144"/>
          </a:xfrm>
          <a:prstGeom prst="rect">
            <a:avLst/>
          </a:prstGeom>
          <a:solidFill>
            <a:srgbClr val="D7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10515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ルート設計: 店舗5機能 / 管理10機能 / 機能単位の権限制御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565392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みのり屋 販売管理システム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E9B7F"/>
                </a:solidFill>
                <a:latin typeface="BIZ UDP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74904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E9B7F"/>
                </a:solidFill>
                <a:latin typeface="BIZ UDPGothic"/>
              </a:rPr>
              <a:t>BUSINESS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88136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A2E4E"/>
                </a:solidFill>
                <a:latin typeface="BIZ UDPGothic"/>
              </a:rPr>
              <a:t>重要操作は、画面ではなく業務フローで守る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例: 売上修正は「申請」と「数値更新」を分離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2148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22576"/>
            <a:ext cx="402336" cy="402336"/>
          </a:xfrm>
          <a:prstGeom prst="ellipse">
            <a:avLst/>
          </a:prstGeom>
          <a:solidFill>
            <a:srgbClr val="18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BIZ UDP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340864"/>
            <a:ext cx="12252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D7083"/>
                </a:solidFill>
                <a:latin typeface="BIZ UDPGothic"/>
              </a:rPr>
              <a:t>店舗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9864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2E4E"/>
                </a:solidFill>
                <a:latin typeface="BIZ UDPGothic"/>
              </a:rPr>
              <a:t>修正を申請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2679192"/>
            <a:ext cx="3474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2E9B7F"/>
                </a:solidFill>
                <a:latin typeface="BIZ UDP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148840"/>
            <a:ext cx="2148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2322576"/>
            <a:ext cx="402336" cy="402336"/>
          </a:xfrm>
          <a:prstGeom prst="ellipse">
            <a:avLst/>
          </a:prstGeom>
          <a:solidFill>
            <a:srgbClr val="12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BIZ UDP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6" y="2340864"/>
            <a:ext cx="12252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D7083"/>
                </a:solidFill>
                <a:latin typeface="BIZ UDPGothic"/>
              </a:rPr>
              <a:t>エリア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89864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2E4E"/>
                </a:solidFill>
                <a:latin typeface="BIZ UDPGothic"/>
              </a:rPr>
              <a:t>一次承認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0136" y="2679192"/>
            <a:ext cx="3474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2E9B7F"/>
                </a:solidFill>
                <a:latin typeface="BIZ UDPGothi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2148840"/>
            <a:ext cx="2148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59" y="2322576"/>
            <a:ext cx="402336" cy="402336"/>
          </a:xfrm>
          <a:prstGeom prst="ellipse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BIZ UDP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340864"/>
            <a:ext cx="12252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D7083"/>
                </a:solidFill>
                <a:latin typeface="BIZ UDPGothic"/>
              </a:rPr>
              <a:t>本部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89864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2E4E"/>
                </a:solidFill>
                <a:latin typeface="BIZ UDPGothic"/>
              </a:rPr>
              <a:t>最終承認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679192"/>
            <a:ext cx="347472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2E9B7F"/>
                </a:solidFill>
                <a:latin typeface="BIZ UDPGothic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148840"/>
            <a:ext cx="21488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52560" y="2322576"/>
            <a:ext cx="402336" cy="402336"/>
          </a:xfrm>
          <a:prstGeom prst="ellipse">
            <a:avLst/>
          </a:prstGeom>
          <a:solidFill>
            <a:srgbClr val="E18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BIZ UDP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2340864"/>
            <a:ext cx="12252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5D7083"/>
                </a:solidFill>
                <a:latin typeface="BIZ UDPGothic"/>
              </a:rPr>
              <a:t>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2898648"/>
            <a:ext cx="1755648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A2E4E"/>
                </a:solidFill>
                <a:latin typeface="BIZ UDPGothic"/>
              </a:rPr>
              <a:t>売上更新・通知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56231" y="4133087"/>
            <a:ext cx="8485632" cy="768096"/>
          </a:xfrm>
          <a:prstGeom prst="roundRect">
            <a:avLst/>
          </a:prstGeom>
          <a:solidFill>
            <a:srgbClr val="FB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93392" y="4315968"/>
            <a:ext cx="8211312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C95D59"/>
                </a:solidFill>
                <a:latin typeface="BIZ UDPGothic"/>
              </a:rPr>
              <a:t>最終承認までは、売上を変更しない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84831" y="5358384"/>
            <a:ext cx="822960" cy="347472"/>
          </a:xfrm>
          <a:prstGeom prst="roundRect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84831" y="5367528"/>
            <a:ext cx="82296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BIZ UDPGothic"/>
              </a:rPr>
              <a:t>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5394960"/>
            <a:ext cx="15727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BIZ UDPGothic"/>
              </a:rPr>
              <a:t>誰ができるか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8031" y="5358384"/>
            <a:ext cx="822960" cy="347472"/>
          </a:xfrm>
          <a:prstGeom prst="roundRect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8031" y="5367528"/>
            <a:ext cx="82296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BIZ UDPGothic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9007" y="5394960"/>
            <a:ext cx="15727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BIZ UDPGothic"/>
              </a:rPr>
              <a:t>どの店舗か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71231" y="5358384"/>
            <a:ext cx="822960" cy="347472"/>
          </a:xfrm>
          <a:prstGeom prst="roundRect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1231" y="5367528"/>
            <a:ext cx="82296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BIZ UDPGothic"/>
              </a:rPr>
              <a:t>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5394960"/>
            <a:ext cx="157276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BIZ UDPGothic"/>
              </a:rPr>
              <a:t>何が変わったか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519672"/>
            <a:ext cx="11109960" cy="9144"/>
          </a:xfrm>
          <a:prstGeom prst="rect">
            <a:avLst/>
          </a:prstGeom>
          <a:solidFill>
            <a:srgbClr val="D7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565392"/>
            <a:ext cx="10515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Server Action → Repository → PostgreSQL RPC / RLS / 監査ログ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6565392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みのり屋 販売管理システム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E9B7F"/>
                </a:solidFill>
                <a:latin typeface="BIZ UDP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74904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E9B7F"/>
                </a:solidFill>
                <a:latin typeface="BIZ UDPGothic"/>
              </a:rPr>
              <a:t>CHANGEABILITY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88136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BIZ UDPGothic"/>
              </a:rPr>
              <a:t>接続先を替えても、業務は替えない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C7D8E5"/>
                </a:solidFill>
                <a:latin typeface="BIZ UDPGothic"/>
              </a:rPr>
              <a:t>階層型モノリス + Repository / Adapter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2834640" cy="713232"/>
          </a:xfrm>
          <a:prstGeom prst="roundRect">
            <a:avLst/>
          </a:prstGeom>
          <a:solidFill>
            <a:srgbClr val="174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48256"/>
            <a:ext cx="11338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FDAC8"/>
                </a:solidFill>
                <a:latin typeface="BIZ UDPGothic"/>
              </a:rPr>
              <a:t>UI /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029968"/>
            <a:ext cx="12984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IZ UDPGothic"/>
              </a:rPr>
              <a:t>画面・URL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52928"/>
            <a:ext cx="2834640" cy="713232"/>
          </a:xfrm>
          <a:prstGeom prst="roundRect">
            <a:avLst/>
          </a:prstGeom>
          <a:solidFill>
            <a:srgbClr val="185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980944"/>
            <a:ext cx="11338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FDAC8"/>
                </a:solidFill>
                <a:latin typeface="BIZ UDPGothic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962656"/>
            <a:ext cx="12984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IZ UDPGothic"/>
              </a:rPr>
              <a:t>入力・認証・手順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85615"/>
            <a:ext cx="2834640" cy="713232"/>
          </a:xfrm>
          <a:prstGeom prst="roundRect">
            <a:avLst/>
          </a:prstGeom>
          <a:solidFill>
            <a:srgbClr val="1B6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913631"/>
            <a:ext cx="11338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FDAC8"/>
                </a:solidFill>
                <a:latin typeface="BIZ UDPGothic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3895344"/>
            <a:ext cx="12984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BIZ UDPGothic"/>
              </a:rPr>
              <a:t>業務計算・契約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20240"/>
            <a:ext cx="1828800" cy="2578608"/>
          </a:xfrm>
          <a:prstGeom prst="roundRect">
            <a:avLst/>
          </a:prstGeom>
          <a:solidFill>
            <a:srgbClr val="18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212848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5F1E8"/>
                </a:solidFill>
                <a:latin typeface="BIZ UDPGothic"/>
              </a:rPr>
              <a:t>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52928"/>
            <a:ext cx="1371600" cy="7498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BIZ UDPGothic"/>
              </a:rPr>
              <a:t>接続実装を
1か所で選ぶ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01968" y="1920240"/>
            <a:ext cx="1965960" cy="822960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2075688"/>
            <a:ext cx="15179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A2E4E"/>
                </a:solidFill>
                <a:latin typeface="BIZ UDPGothic"/>
              </a:rPr>
              <a:t>MOCK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368296"/>
            <a:ext cx="151790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D7083"/>
                </a:solidFill>
                <a:latin typeface="BIZ UDPGothic"/>
              </a:rPr>
              <a:t>画面・業務の先行検証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01968" y="3072384"/>
            <a:ext cx="1965960" cy="822960"/>
          </a:xfrm>
          <a:prstGeom prst="roundRect">
            <a:avLst/>
          </a:prstGeom>
          <a:solidFill>
            <a:srgbClr val="E3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3227832"/>
            <a:ext cx="15179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88268"/>
                </a:solidFill>
                <a:latin typeface="BIZ UDPGothic"/>
              </a:rP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3520440"/>
            <a:ext cx="151790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D7083"/>
                </a:solidFill>
                <a:latin typeface="BIZ UDPGothic"/>
              </a:rPr>
              <a:t>ローカル接続の再現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1968" y="4224528"/>
            <a:ext cx="1965960" cy="822960"/>
          </a:xfrm>
          <a:prstGeom prst="round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4379976"/>
            <a:ext cx="151790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A2E4E"/>
                </a:solidFill>
                <a:latin typeface="BIZ UDPGothic"/>
              </a:rPr>
              <a:t>SUPABASE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4672584"/>
            <a:ext cx="151790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5D7083"/>
                </a:solidFill>
                <a:latin typeface="BIZ UDPGothic"/>
              </a:rPr>
              <a:t>Auth / RPC / RLS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20240"/>
            <a:ext cx="2057400" cy="3127248"/>
          </a:xfrm>
          <a:prstGeom prst="roundRect">
            <a:avLst/>
          </a:prstGeom>
          <a:solidFill>
            <a:srgbClr val="123B5F"/>
          </a:solidFill>
          <a:ln w="12700">
            <a:solidFill>
              <a:srgbClr val="3654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2176272"/>
            <a:ext cx="1563624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9FDAC8"/>
                </a:solidFill>
                <a:latin typeface="BIZ UDPGothic"/>
              </a:rPr>
              <a:t>EXTERNAL 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2816352"/>
            <a:ext cx="1563624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BIZ UDPGothic"/>
              </a:rPr>
              <a:t>既存POS
基幹システム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91472" y="4069080"/>
            <a:ext cx="1444752" cy="347472"/>
          </a:xfrm>
          <a:prstGeom prst="roundRect">
            <a:avLst/>
          </a:prstGeom>
          <a:solidFill>
            <a:srgbClr val="18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91472" y="4078224"/>
            <a:ext cx="144475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BIZ UDPGothic"/>
              </a:rPr>
              <a:t>OUTBOX / RETRY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553712"/>
            <a:ext cx="16916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C7D8E5"/>
                </a:solidFill>
                <a:latin typeface="BIZ UDPGothic"/>
              </a:rPr>
              <a:t>設定済み接続先だけ送信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9624" y="2880360"/>
            <a:ext cx="320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9FDAC8"/>
                </a:solidFill>
                <a:latin typeface="BIZ UDPGothic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912" y="2880360"/>
            <a:ext cx="320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9FDAC8"/>
                </a:solidFill>
                <a:latin typeface="BIZ UDPGothic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4232" y="2880360"/>
            <a:ext cx="3200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9FDAC8"/>
                </a:solidFill>
                <a:latin typeface="BIZ UDPGothic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1560" y="5513832"/>
            <a:ext cx="10104120" cy="585216"/>
          </a:xfrm>
          <a:prstGeom prst="round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650992"/>
            <a:ext cx="9738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BIZ UDPGothic"/>
              </a:rPr>
              <a:t>業務契約は固定　／　接続実装は交換可能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519672"/>
            <a:ext cx="11109960" cy="9144"/>
          </a:xfrm>
          <a:prstGeom prst="rect">
            <a:avLst/>
          </a:prstGeom>
          <a:solidFill>
            <a:srgbClr val="365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565392"/>
            <a:ext cx="10515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FB6C7"/>
                </a:solidFill>
                <a:latin typeface="BIZ UDPGothic"/>
              </a:rPr>
              <a:t>src/domain → src/server/container.ts → infrastructure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6565392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9FB6C7"/>
                </a:solidFill>
                <a:latin typeface="BIZ UDPGothic"/>
              </a:rPr>
              <a:t>みのり屋 販売管理システム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E9B7F"/>
                </a:solidFill>
                <a:latin typeface="BIZ UDP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74904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E9B7F"/>
                </a:solidFill>
                <a:latin typeface="BIZ UDPGothic"/>
              </a:rPr>
              <a:t>OPERATIONAL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88136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A2E4E"/>
                </a:solidFill>
                <a:latin typeface="BIZ UDPGothic"/>
              </a:rPr>
              <a:t>現場で迷わせないUI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見た目の統一より、判断と復帰のしやすさを優先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65376"/>
            <a:ext cx="7726679" cy="4224528"/>
          </a:xfrm>
          <a:prstGeom prst="roundRect">
            <a:avLst/>
          </a:prstGeom>
          <a:solidFill>
            <a:srgbClr val="F4F7F8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店舗共通メニューの実画面"/>
          <p:cNvPicPr>
            <a:picLocks noChangeAspect="1"/>
          </p:cNvPicPr>
          <p:nvPr/>
        </p:nvPicPr>
        <p:blipFill>
          <a:blip r:embed="rId2"/>
          <a:srcRect t="11588" b="11588"/>
          <a:stretch>
            <a:fillRect/>
          </a:stretch>
        </p:blipFill>
        <p:spPr>
          <a:xfrm>
            <a:off x="749808" y="1975104"/>
            <a:ext cx="7507224" cy="400507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705088" y="1947672"/>
            <a:ext cx="402336" cy="402336"/>
          </a:xfrm>
          <a:prstGeom prst="ellipse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BIZ UDP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72015" y="1938528"/>
            <a:ext cx="2240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A2E4E"/>
                </a:solidFill>
                <a:latin typeface="BIZ UDPGothic"/>
              </a:rPr>
              <a:t>常に同じ場所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2015" y="2267712"/>
            <a:ext cx="22402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5D7083"/>
                </a:solidFill>
                <a:latin typeface="BIZ UDPGothic"/>
              </a:rPr>
              <a:t>共通サイドバー</a:t>
            </a:r>
          </a:p>
        </p:txBody>
      </p:sp>
      <p:sp>
        <p:nvSpPr>
          <p:cNvPr id="11" name="Oval 10"/>
          <p:cNvSpPr/>
          <p:nvPr/>
        </p:nvSpPr>
        <p:spPr>
          <a:xfrm>
            <a:off x="8705088" y="3163824"/>
            <a:ext cx="402336" cy="402336"/>
          </a:xfrm>
          <a:prstGeom prst="ellipse">
            <a:avLst/>
          </a:prstGeom>
          <a:solidFill>
            <a:srgbClr val="188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BIZ UDP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72015" y="3154680"/>
            <a:ext cx="2240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A2E4E"/>
                </a:solidFill>
                <a:latin typeface="BIZ UDPGothic"/>
              </a:rPr>
              <a:t>行動で命名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2015" y="3483864"/>
            <a:ext cx="22402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5D7083"/>
                </a:solidFill>
                <a:latin typeface="BIZ UDPGothic"/>
              </a:rPr>
              <a:t>店舗業務 / 特売・価格</a:t>
            </a:r>
          </a:p>
        </p:txBody>
      </p:sp>
      <p:sp>
        <p:nvSpPr>
          <p:cNvPr id="14" name="Oval 13"/>
          <p:cNvSpPr/>
          <p:nvPr/>
        </p:nvSpPr>
        <p:spPr>
          <a:xfrm>
            <a:off x="8705088" y="4379976"/>
            <a:ext cx="402336" cy="402336"/>
          </a:xfrm>
          <a:prstGeom prst="ellipse">
            <a:avLst/>
          </a:prstGeom>
          <a:solidFill>
            <a:srgbClr val="E18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BIZ UDP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5" y="4370832"/>
            <a:ext cx="22402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0A2E4E"/>
                </a:solidFill>
                <a:latin typeface="BIZ UDPGothic"/>
              </a:rPr>
              <a:t>状態を明示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5" y="4700016"/>
            <a:ext cx="22402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>
                <a:solidFill>
                  <a:srgbClr val="5D7083"/>
                </a:solidFill>
                <a:latin typeface="BIZ UDPGothic"/>
              </a:rPr>
              <a:t>SAMPLE・未接続・権限不足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5088" y="5504688"/>
            <a:ext cx="960120" cy="347472"/>
          </a:xfrm>
          <a:prstGeom prst="roundRect">
            <a:avLst/>
          </a:prstGeom>
          <a:solidFill>
            <a:srgbClr val="EA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5513831"/>
            <a:ext cx="9601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0A2E4E"/>
                </a:solidFill>
                <a:latin typeface="BIZ UDPGothic"/>
              </a:rPr>
              <a:t>KEYBOARD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65792" y="5504688"/>
            <a:ext cx="1325880" cy="347472"/>
          </a:xfrm>
          <a:prstGeom prst="roundRect">
            <a:avLst/>
          </a:prstGeom>
          <a:solidFill>
            <a:srgbClr val="E3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5513831"/>
            <a:ext cx="13258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50" b="1">
                <a:solidFill>
                  <a:srgbClr val="188268"/>
                </a:solidFill>
                <a:latin typeface="BIZ UDPGothic"/>
              </a:rPr>
              <a:t>REDUCED MOTION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19672"/>
            <a:ext cx="11109960" cy="9144"/>
          </a:xfrm>
          <a:prstGeom prst="rect">
            <a:avLst/>
          </a:prstGeom>
          <a:solidFill>
            <a:srgbClr val="D7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10515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店舗共用PC / フォーカス / エラー回復 / 表示倍率 / prefers-reduced-motion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565392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みのり屋 販売管理システム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411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E9B7F"/>
                </a:solidFill>
                <a:latin typeface="BIZ UDP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74904"/>
            <a:ext cx="34747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E9B7F"/>
                </a:solidFill>
                <a:latin typeface="BIZ UDPGothic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0881360" cy="566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>
                <a:solidFill>
                  <a:srgbClr val="0A2E4E"/>
                </a:solidFill>
                <a:latin typeface="BIZ UDPGothic"/>
              </a:rPr>
              <a:t>実装完了を、テストで言語化する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10515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5D7083"/>
                </a:solidFill>
                <a:latin typeface="BIZ UDPGothic"/>
              </a:rPr>
              <a:t>画面の成功だけでなく、境界・業務・追跡を検証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1170432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A2E4E"/>
                </a:solidFill>
                <a:latin typeface="BIZ UDPGothic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304288"/>
            <a:ext cx="16276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D7083"/>
                </a:solidFill>
                <a:latin typeface="BIZ UDPGothic"/>
              </a:rPr>
              <a:t>TEST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290779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A2E4E"/>
                </a:solidFill>
                <a:latin typeface="BIZ UDPGothic"/>
              </a:rPr>
              <a:t>構造・認可・DB・連携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901952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8303" y="2194560"/>
            <a:ext cx="1170432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188268"/>
                </a:solidFill>
                <a:latin typeface="BIZ UDPGothic"/>
              </a:rPr>
              <a:t>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2304288"/>
            <a:ext cx="16276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D7083"/>
                </a:solidFill>
                <a:latin typeface="BIZ UDPGothic"/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090672"/>
            <a:ext cx="290779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A2E4E"/>
                </a:solidFill>
                <a:latin typeface="BIZ UDPGothic"/>
              </a:rPr>
              <a:t>Vitest 全件成功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901952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2194560"/>
            <a:ext cx="1170432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E18A3B"/>
                </a:solidFill>
                <a:latin typeface="BIZ UDP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47504" y="2304288"/>
            <a:ext cx="162763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D7083"/>
                </a:solidFill>
                <a:latin typeface="BIZ UDPGothic"/>
              </a:rPr>
              <a:t>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3090672"/>
            <a:ext cx="2907792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A2E4E"/>
                </a:solidFill>
                <a:latin typeface="BIZ UDPGothic"/>
              </a:rPr>
              <a:t>要件ID・版番号の整合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297680"/>
            <a:ext cx="128016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C95D59"/>
                </a:solidFill>
                <a:latin typeface="BIZ UDPGothic"/>
              </a:rPr>
              <a:t>次のゲート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8528" y="4160520"/>
            <a:ext cx="9582912" cy="1197864"/>
          </a:xfrm>
          <a:prstGeom prst="roundRect">
            <a:avLst/>
          </a:prstGeom>
          <a:solidFill>
            <a:srgbClr val="FBEA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4407408"/>
            <a:ext cx="8997696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C95D59"/>
                </a:solidFill>
                <a:latin typeface="BIZ UDPGothic"/>
              </a:rPr>
              <a:t>本番IFの合意  /  実アカウントE2E  /  負荷・復旧条件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855464"/>
            <a:ext cx="899769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5D7083"/>
                </a:solidFill>
                <a:latin typeface="BIZ UDPGothic"/>
              </a:rPr>
              <a:t>未確定を「完成」と呼ばないことも、品質の一部。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7632" y="5696712"/>
            <a:ext cx="8942832" cy="530352"/>
          </a:xfrm>
          <a:prstGeom prst="roundRect">
            <a:avLst/>
          </a:prstGeom>
          <a:solidFill>
            <a:srgbClr val="0A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797296"/>
            <a:ext cx="8449056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BIZ UDPGothic"/>
              </a:rPr>
              <a:t>速く作るために、先に壊れにくくした。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19672"/>
            <a:ext cx="11109960" cy="9144"/>
          </a:xfrm>
          <a:prstGeom prst="rect">
            <a:avLst/>
          </a:prstGeom>
          <a:solidFill>
            <a:srgbClr val="D7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105156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2026-10-22 検証: npm test / typecheck / Python traceability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565392"/>
            <a:ext cx="19202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8394A3"/>
                </a:solidFill>
                <a:latin typeface="BIZ UDPGothic"/>
              </a:rPr>
              <a:t>みのり屋 販売管理システム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みのり屋 販売管理システム｜実装思想と設計の要点</dc:title>
  <dc:subject>7分間の口頭説明用プレゼンテーション</dc:subject>
  <dc:creator>OpenAI Codex</dc:creator>
  <cp:keywords>販売管理, Next.js, Supabase, 設計思想, 実装説明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